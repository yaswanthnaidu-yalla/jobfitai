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7CDDD2-4F2E-4B77-BED9-72E96193AACF}" v="9" dt="2026-03-13T07:58:17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44" y="9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THELLI SAMBARAJU" userId="6bb28090c286392e" providerId="LiveId" clId="{87E83F45-9DE6-40CF-A00D-95E2A2A43EBB}"/>
    <pc:docChg chg="modSld">
      <pc:chgData name="CHATHELLI SAMBARAJU" userId="6bb28090c286392e" providerId="LiveId" clId="{87E83F45-9DE6-40CF-A00D-95E2A2A43EBB}" dt="2026-03-13T07:58:26.747" v="51" actId="207"/>
      <pc:docMkLst>
        <pc:docMk/>
      </pc:docMkLst>
      <pc:sldChg chg="modSp mod modTransition">
        <pc:chgData name="CHATHELLI SAMBARAJU" userId="6bb28090c286392e" providerId="LiveId" clId="{87E83F45-9DE6-40CF-A00D-95E2A2A43EBB}" dt="2026-03-13T07:58:03.134" v="48" actId="20577"/>
        <pc:sldMkLst>
          <pc:docMk/>
          <pc:sldMk cId="0" sldId="256"/>
        </pc:sldMkLst>
        <pc:spChg chg="mod">
          <ac:chgData name="CHATHELLI SAMBARAJU" userId="6bb28090c286392e" providerId="LiveId" clId="{87E83F45-9DE6-40CF-A00D-95E2A2A43EBB}" dt="2026-03-13T07:58:03.134" v="48" actId="2057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CHATHELLI SAMBARAJU" userId="6bb28090c286392e" providerId="LiveId" clId="{87E83F45-9DE6-40CF-A00D-95E2A2A43EBB}" dt="2026-03-13T07:42:32.540" v="22" actId="20577"/>
          <ac:spMkLst>
            <pc:docMk/>
            <pc:sldMk cId="0" sldId="256"/>
            <ac:spMk id="59" creationId="{00000000-0000-0000-0000-000000000000}"/>
          </ac:spMkLst>
        </pc:spChg>
      </pc:sldChg>
      <pc:sldChg chg="modTransition">
        <pc:chgData name="CHATHELLI SAMBARAJU" userId="6bb28090c286392e" providerId="LiveId" clId="{87E83F45-9DE6-40CF-A00D-95E2A2A43EBB}" dt="2026-03-13T07:40:12.716" v="1"/>
        <pc:sldMkLst>
          <pc:docMk/>
          <pc:sldMk cId="0" sldId="257"/>
        </pc:sldMkLst>
      </pc:sldChg>
      <pc:sldChg chg="modTransition">
        <pc:chgData name="CHATHELLI SAMBARAJU" userId="6bb28090c286392e" providerId="LiveId" clId="{87E83F45-9DE6-40CF-A00D-95E2A2A43EBB}" dt="2026-03-13T07:40:16.296" v="2"/>
        <pc:sldMkLst>
          <pc:docMk/>
          <pc:sldMk cId="0" sldId="258"/>
        </pc:sldMkLst>
      </pc:sldChg>
      <pc:sldChg chg="modTransition">
        <pc:chgData name="CHATHELLI SAMBARAJU" userId="6bb28090c286392e" providerId="LiveId" clId="{87E83F45-9DE6-40CF-A00D-95E2A2A43EBB}" dt="2026-03-13T07:40:21.769" v="3"/>
        <pc:sldMkLst>
          <pc:docMk/>
          <pc:sldMk cId="0" sldId="259"/>
        </pc:sldMkLst>
      </pc:sldChg>
      <pc:sldChg chg="modTransition">
        <pc:chgData name="CHATHELLI SAMBARAJU" userId="6bb28090c286392e" providerId="LiveId" clId="{87E83F45-9DE6-40CF-A00D-95E2A2A43EBB}" dt="2026-03-13T07:40:26.398" v="4"/>
        <pc:sldMkLst>
          <pc:docMk/>
          <pc:sldMk cId="0" sldId="260"/>
        </pc:sldMkLst>
      </pc:sldChg>
      <pc:sldChg chg="modSp mod modTransition">
        <pc:chgData name="CHATHELLI SAMBARAJU" userId="6bb28090c286392e" providerId="LiveId" clId="{87E83F45-9DE6-40CF-A00D-95E2A2A43EBB}" dt="2026-03-13T07:48:00.100" v="46" actId="20577"/>
        <pc:sldMkLst>
          <pc:docMk/>
          <pc:sldMk cId="0" sldId="261"/>
        </pc:sldMkLst>
        <pc:spChg chg="mod">
          <ac:chgData name="CHATHELLI SAMBARAJU" userId="6bb28090c286392e" providerId="LiveId" clId="{87E83F45-9DE6-40CF-A00D-95E2A2A43EBB}" dt="2026-03-13T07:48:00.100" v="46" actId="20577"/>
          <ac:spMkLst>
            <pc:docMk/>
            <pc:sldMk cId="0" sldId="261"/>
            <ac:spMk id="68" creationId="{00000000-0000-0000-0000-000000000000}"/>
          </ac:spMkLst>
        </pc:spChg>
      </pc:sldChg>
      <pc:sldChg chg="modTransition">
        <pc:chgData name="CHATHELLI SAMBARAJU" userId="6bb28090c286392e" providerId="LiveId" clId="{87E83F45-9DE6-40CF-A00D-95E2A2A43EBB}" dt="2026-03-13T07:40:37.910" v="6"/>
        <pc:sldMkLst>
          <pc:docMk/>
          <pc:sldMk cId="0" sldId="262"/>
        </pc:sldMkLst>
      </pc:sldChg>
      <pc:sldChg chg="modSp mod modTransition">
        <pc:chgData name="CHATHELLI SAMBARAJU" userId="6bb28090c286392e" providerId="LiveId" clId="{87E83F45-9DE6-40CF-A00D-95E2A2A43EBB}" dt="2026-03-13T07:58:26.747" v="51" actId="207"/>
        <pc:sldMkLst>
          <pc:docMk/>
          <pc:sldMk cId="0" sldId="263"/>
        </pc:sldMkLst>
        <pc:spChg chg="mod">
          <ac:chgData name="CHATHELLI SAMBARAJU" userId="6bb28090c286392e" providerId="LiveId" clId="{87E83F45-9DE6-40CF-A00D-95E2A2A43EBB}" dt="2026-03-13T07:58:26.747" v="51" actId="207"/>
          <ac:spMkLst>
            <pc:docMk/>
            <pc:sldMk cId="0" sldId="263"/>
            <ac:spMk id="6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3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5544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544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544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5544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5544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5544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517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6517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6517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6517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6517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4904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4904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74904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4632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436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9436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9436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436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9436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0408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408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408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0408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381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381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1381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1381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381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1381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0" y="18288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A66C2">
              <a:alpha val="15000"/>
            </a:srgbClr>
          </a:solidFill>
          <a:ln w="12700">
            <a:solidFill>
              <a:srgbClr val="0A66C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D7FE8">
              <a:alpha val="25000"/>
            </a:srgbClr>
          </a:solidFill>
          <a:ln w="12700">
            <a:solidFill>
              <a:srgbClr val="0D7FE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00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0040" y="10058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Fit</a:t>
            </a:r>
            <a:r>
              <a:rPr lang="en-US" sz="7200" b="1" dirty="0">
                <a:solidFill>
                  <a:srgbClr val="0A66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AI</a:t>
            </a:r>
            <a:endParaRPr lang="en-US" sz="7200" dirty="0"/>
          </a:p>
        </p:txBody>
      </p:sp>
      <p:sp>
        <p:nvSpPr>
          <p:cNvPr id="57" name="Text 55"/>
          <p:cNvSpPr/>
          <p:nvPr/>
        </p:nvSpPr>
        <p:spPr>
          <a:xfrm>
            <a:off x="32004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Fair. Explainable .Shortlists .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320040" y="2971800"/>
            <a:ext cx="2286000" cy="36576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POINTERS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572000" y="4709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Screening</a:t>
            </a:r>
            <a:endParaRPr lang="en-US" sz="1000" dirty="0"/>
          </a:p>
        </p:txBody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663440"/>
            <a:ext cx="320040" cy="320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5544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544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544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5544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5544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5544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517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6517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6517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6517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6517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4904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4904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74904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4632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436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9436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9436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436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9436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0408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408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408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0408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381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381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1381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1381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381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1381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0" y="18288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00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Hiring is Broken at the Screening Stage</a:t>
            </a:r>
            <a:endParaRPr lang="en-US" sz="3000" dirty="0"/>
          </a:p>
        </p:txBody>
      </p:sp>
      <p:sp>
        <p:nvSpPr>
          <p:cNvPr id="55" name="Shape 53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0D1628"/>
          </a:solidFill>
          <a:ln w="12700">
            <a:solidFill>
              <a:srgbClr val="1E2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A4A"/>
          </a:solidFill>
          <a:ln w="12700">
            <a:solidFill>
              <a:srgbClr val="E84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411480" cy="411480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45720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457200" y="25146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trained on biased data quietly penalize candidates by name, gender, school, or career gaps — before a human ever sees them.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246120" y="1417320"/>
            <a:ext cx="2743200" cy="3383280"/>
          </a:xfrm>
          <a:prstGeom prst="rect">
            <a:avLst/>
          </a:prstGeom>
          <a:solidFill>
            <a:srgbClr val="0D1628"/>
          </a:solidFill>
          <a:ln w="12700">
            <a:solidFill>
              <a:srgbClr val="1E2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8"/>
          <p:cNvSpPr/>
          <p:nvPr/>
        </p:nvSpPr>
        <p:spPr>
          <a:xfrm>
            <a:off x="3246120" y="14173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00200"/>
            <a:ext cx="411480" cy="411480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338328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Failures</a:t>
            </a:r>
            <a:endParaRPr lang="en-US" sz="1400" dirty="0"/>
          </a:p>
        </p:txBody>
      </p:sp>
      <p:sp>
        <p:nvSpPr>
          <p:cNvPr id="64" name="Text 60"/>
          <p:cNvSpPr/>
          <p:nvPr/>
        </p:nvSpPr>
        <p:spPr>
          <a:xfrm>
            <a:off x="3383280" y="25146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43–75% of resumes never reach human review. Complex formatting garbles PDF extraction. Qualified candidates vanish silently.</a:t>
            </a:r>
            <a:endParaRPr lang="en-US" sz="1100" dirty="0"/>
          </a:p>
        </p:txBody>
      </p:sp>
      <p:sp>
        <p:nvSpPr>
          <p:cNvPr id="65" name="Shape 61"/>
          <p:cNvSpPr/>
          <p:nvPr/>
        </p:nvSpPr>
        <p:spPr>
          <a:xfrm>
            <a:off x="6172200" y="1417320"/>
            <a:ext cx="2743200" cy="3383280"/>
          </a:xfrm>
          <a:prstGeom prst="rect">
            <a:avLst/>
          </a:prstGeom>
          <a:solidFill>
            <a:srgbClr val="0D1628"/>
          </a:solidFill>
          <a:ln w="12700">
            <a:solidFill>
              <a:srgbClr val="1E2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6172200" y="1417320"/>
            <a:ext cx="274320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00200"/>
            <a:ext cx="411480" cy="411480"/>
          </a:xfrm>
          <a:prstGeom prst="rect">
            <a:avLst/>
          </a:prstGeom>
        </p:spPr>
      </p:pic>
      <p:sp>
        <p:nvSpPr>
          <p:cNvPr id="68" name="Text 63"/>
          <p:cNvSpPr/>
          <p:nvPr/>
        </p:nvSpPr>
        <p:spPr>
          <a:xfrm>
            <a:off x="630936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Transparency</a:t>
            </a:r>
            <a:endParaRPr lang="en-US" sz="1400" dirty="0"/>
          </a:p>
        </p:txBody>
      </p:sp>
      <p:sp>
        <p:nvSpPr>
          <p:cNvPr id="69" name="Text 64"/>
          <p:cNvSpPr/>
          <p:nvPr/>
        </p:nvSpPr>
        <p:spPr>
          <a:xfrm>
            <a:off x="6309360" y="25146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are black boxes. No reasoning. No audit trail. No legal defensibility. Recruiters either trust blindly or ignore the tool.</a:t>
            </a:r>
            <a:endParaRPr lang="en-US" sz="1100" dirty="0"/>
          </a:p>
        </p:txBody>
      </p:sp>
      <p:sp>
        <p:nvSpPr>
          <p:cNvPr id="70" name="Shape 6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6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scenario: A recruiter receives 200 resumes. Manual screening takes 6+ hours and introduces systemic bias at every step.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2024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2024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92024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0896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0896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0896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0896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10896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9768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9768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9768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29768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8640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640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8640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7512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67512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67512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67512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86384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86384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86384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86384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86384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05256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05256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05256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05256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05256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8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Fit AI delivers a fair, explainable shortlist in 30 seconds.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320040" y="1325880"/>
            <a:ext cx="3840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66C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20040" y="1325880"/>
            <a:ext cx="64008" cy="6858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57200" y="1371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66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22960" y="1380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" y="1655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LinkedIn URL or type manually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057400" y="2011680"/>
            <a:ext cx="36576" cy="182880"/>
          </a:xfrm>
          <a:prstGeom prst="rect">
            <a:avLst/>
          </a:prstGeom>
          <a:solidFill>
            <a:srgbClr val="C5D5EA"/>
          </a:solidFill>
          <a:ln w="12700">
            <a:solidFill>
              <a:srgbClr val="C5D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320040" y="2194560"/>
            <a:ext cx="3840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66C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320040" y="2194560"/>
            <a:ext cx="64008" cy="6858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572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66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22960" y="2249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Input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22960" y="2523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or LinkedIn Profile URL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057400" y="2880360"/>
            <a:ext cx="36576" cy="182880"/>
          </a:xfrm>
          <a:prstGeom prst="rect">
            <a:avLst/>
          </a:prstGeom>
          <a:solidFill>
            <a:srgbClr val="C5D5EA"/>
          </a:solidFill>
          <a:ln w="12700">
            <a:solidFill>
              <a:srgbClr val="C5D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320040" y="3063240"/>
            <a:ext cx="3840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320040" y="3063240"/>
            <a:ext cx="64008" cy="685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57200" y="3108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2296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Screening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2960" y="3392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evaluates skills only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057400" y="3749040"/>
            <a:ext cx="36576" cy="182880"/>
          </a:xfrm>
          <a:prstGeom prst="rect">
            <a:avLst/>
          </a:prstGeom>
          <a:solidFill>
            <a:srgbClr val="C5D5EA"/>
          </a:solidFill>
          <a:ln w="12700">
            <a:solidFill>
              <a:srgbClr val="C5D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320040" y="3931920"/>
            <a:ext cx="3840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F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320040" y="3931920"/>
            <a:ext cx="64008" cy="685800"/>
          </a:xfrm>
          <a:prstGeom prst="rect">
            <a:avLst/>
          </a:prstGeom>
          <a:solidFill>
            <a:srgbClr val="0D7FE8"/>
          </a:solidFill>
          <a:ln w="12700">
            <a:solidFill>
              <a:srgbClr val="0D7F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57200" y="3977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82296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22960" y="4261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+ 3 reasoning bullets per candidate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0" y="1234440"/>
            <a:ext cx="4251960" cy="3657600"/>
          </a:xfrm>
          <a:prstGeom prst="rect">
            <a:avLst/>
          </a:prstGeom>
          <a:solidFill>
            <a:srgbClr val="0A18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7548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75488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7200" dirty="0"/>
          </a:p>
        </p:txBody>
      </p:sp>
      <p:sp>
        <p:nvSpPr>
          <p:cNvPr id="73" name="Text 71"/>
          <p:cNvSpPr/>
          <p:nvPr/>
        </p:nvSpPr>
        <p:spPr>
          <a:xfrm>
            <a:off x="62179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9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4754880" y="2606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complete ranked shortlist</a:t>
            </a:r>
            <a:endParaRPr lang="en-US" sz="1300" dirty="0"/>
          </a:p>
        </p:txBody>
      </p:sp>
      <p:pic>
        <p:nvPicPr>
          <p:cNvPr id="7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154680"/>
            <a:ext cx="201168" cy="201168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5029200" y="31272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Bias-free scoring</a:t>
            </a:r>
            <a:endParaRPr lang="en-US" sz="1200" dirty="0"/>
          </a:p>
        </p:txBody>
      </p:sp>
      <p:pic>
        <p:nvPicPr>
          <p:cNvPr id="7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566160"/>
            <a:ext cx="201168" cy="201168"/>
          </a:xfrm>
          <a:prstGeom prst="rect">
            <a:avLst/>
          </a:prstGeom>
        </p:spPr>
      </p:pic>
      <p:sp>
        <p:nvSpPr>
          <p:cNvPr id="78" name="Text 74"/>
          <p:cNvSpPr/>
          <p:nvPr/>
        </p:nvSpPr>
        <p:spPr>
          <a:xfrm>
            <a:off x="5029200" y="353872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explainability</a:t>
            </a:r>
            <a:endParaRPr lang="en-US" sz="1200" dirty="0"/>
          </a:p>
        </p:txBody>
      </p:sp>
      <p:pic>
        <p:nvPicPr>
          <p:cNvPr id="7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77640"/>
            <a:ext cx="201168" cy="201168"/>
          </a:xfrm>
          <a:prstGeom prst="rect">
            <a:avLst/>
          </a:prstGeom>
        </p:spPr>
      </p:pic>
      <p:sp>
        <p:nvSpPr>
          <p:cNvPr id="80" name="Text 75"/>
          <p:cNvSpPr/>
          <p:nvPr/>
        </p:nvSpPr>
        <p:spPr>
          <a:xfrm>
            <a:off x="5029200" y="395020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lost candidates</a:t>
            </a:r>
            <a:endParaRPr lang="en-US" sz="1200" dirty="0"/>
          </a:p>
        </p:txBody>
      </p:sp>
      <p:pic>
        <p:nvPicPr>
          <p:cNvPr id="8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389120"/>
            <a:ext cx="201168" cy="201168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5029200" y="436168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defensibility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5544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544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544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5544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5544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5544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517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6517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6517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6517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6517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4904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4904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74904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4632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436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9436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9436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436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9436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0408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408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408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0408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381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381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1381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1381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381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1381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0" y="18288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00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Around 3 Core Failures — Solved.</a:t>
            </a:r>
            <a:endParaRPr lang="en-US" sz="2600" dirty="0"/>
          </a:p>
        </p:txBody>
      </p:sp>
      <p:sp>
        <p:nvSpPr>
          <p:cNvPr id="55" name="Shape 53"/>
          <p:cNvSpPr/>
          <p:nvPr/>
        </p:nvSpPr>
        <p:spPr>
          <a:xfrm>
            <a:off x="320040" y="1325880"/>
            <a:ext cx="420624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20040" y="1325880"/>
            <a:ext cx="4206240" cy="5486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347472" cy="347472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96012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50292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skills &amp; experience only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name, school, age, demographics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502920" y="26426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prompt-level exclusion — not an afterthought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4754880" y="1325880"/>
            <a:ext cx="420624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00A0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0"/>
          <p:cNvSpPr/>
          <p:nvPr/>
        </p:nvSpPr>
        <p:spPr>
          <a:xfrm>
            <a:off x="4754880" y="1325880"/>
            <a:ext cx="4206240" cy="54864"/>
          </a:xfrm>
          <a:prstGeom prst="rect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08760"/>
            <a:ext cx="347472" cy="347472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539496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Input — No Lost Candidates</a:t>
            </a:r>
            <a:endParaRPr lang="en-US" sz="1400" dirty="0"/>
          </a:p>
        </p:txBody>
      </p:sp>
      <p:sp>
        <p:nvSpPr>
          <p:cNvPr id="66" name="Text 62"/>
          <p:cNvSpPr/>
          <p:nvPr/>
        </p:nvSpPr>
        <p:spPr>
          <a:xfrm>
            <a:off x="493776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or paste LinkedIn Profile URL</a:t>
            </a:r>
            <a:endParaRPr lang="en-US" sz="1050" dirty="0"/>
          </a:p>
        </p:txBody>
      </p:sp>
      <p:sp>
        <p:nvSpPr>
          <p:cNvPr id="67" name="Text 63"/>
          <p:cNvSpPr/>
          <p:nvPr/>
        </p:nvSpPr>
        <p:spPr>
          <a:xfrm>
            <a:off x="4937760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path = fallback if PDF fails to parse</a:t>
            </a:r>
            <a:endParaRPr lang="en-US" sz="1050" dirty="0"/>
          </a:p>
        </p:txBody>
      </p:sp>
      <p:sp>
        <p:nvSpPr>
          <p:cNvPr id="68" name="Text 64"/>
          <p:cNvSpPr/>
          <p:nvPr/>
        </p:nvSpPr>
        <p:spPr>
          <a:xfrm>
            <a:off x="4937760" y="26426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 engine processes both inputs identically</a:t>
            </a:r>
            <a:endParaRPr lang="en-US" sz="1050" dirty="0"/>
          </a:p>
        </p:txBody>
      </p:sp>
      <p:sp>
        <p:nvSpPr>
          <p:cNvPr id="69" name="Shape 65"/>
          <p:cNvSpPr/>
          <p:nvPr/>
        </p:nvSpPr>
        <p:spPr>
          <a:xfrm>
            <a:off x="320040" y="3246120"/>
            <a:ext cx="420624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6"/>
          <p:cNvSpPr/>
          <p:nvPr/>
        </p:nvSpPr>
        <p:spPr>
          <a:xfrm>
            <a:off x="320040" y="3246120"/>
            <a:ext cx="420624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29000"/>
            <a:ext cx="347472" cy="347472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96012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Explainability</a:t>
            </a:r>
            <a:endParaRPr lang="en-US" sz="1400" dirty="0"/>
          </a:p>
        </p:txBody>
      </p:sp>
      <p:sp>
        <p:nvSpPr>
          <p:cNvPr id="73" name="Text 68"/>
          <p:cNvSpPr/>
          <p:nvPr/>
        </p:nvSpPr>
        <p:spPr>
          <a:xfrm>
            <a:off x="50292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0–100 per candidate</a:t>
            </a:r>
            <a:endParaRPr lang="en-US" sz="1050" dirty="0"/>
          </a:p>
        </p:txBody>
      </p:sp>
      <p:sp>
        <p:nvSpPr>
          <p:cNvPr id="74" name="Text 69"/>
          <p:cNvSpPr/>
          <p:nvPr/>
        </p:nvSpPr>
        <p:spPr>
          <a:xfrm>
            <a:off x="502920" y="4224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AI-generated reasoning bullets per result</a:t>
            </a:r>
            <a:endParaRPr lang="en-US" sz="1050" dirty="0"/>
          </a:p>
        </p:txBody>
      </p:sp>
      <p:sp>
        <p:nvSpPr>
          <p:cNvPr id="75" name="Text 70"/>
          <p:cNvSpPr/>
          <p:nvPr/>
        </p:nvSpPr>
        <p:spPr>
          <a:xfrm>
            <a:off x="502920" y="45628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matched vs skills missing — side by side</a:t>
            </a:r>
            <a:endParaRPr lang="en-US" sz="1050" dirty="0"/>
          </a:p>
        </p:txBody>
      </p:sp>
      <p:sp>
        <p:nvSpPr>
          <p:cNvPr id="76" name="Shape 71"/>
          <p:cNvSpPr/>
          <p:nvPr/>
        </p:nvSpPr>
        <p:spPr>
          <a:xfrm>
            <a:off x="4754880" y="3246120"/>
            <a:ext cx="420624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2"/>
          <p:cNvSpPr/>
          <p:nvPr/>
        </p:nvSpPr>
        <p:spPr>
          <a:xfrm>
            <a:off x="4754880" y="3246120"/>
            <a:ext cx="42062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29000"/>
            <a:ext cx="347472" cy="347472"/>
          </a:xfrm>
          <a:prstGeom prst="rect">
            <a:avLst/>
          </a:prstGeom>
        </p:spPr>
      </p:pic>
      <p:sp>
        <p:nvSpPr>
          <p:cNvPr id="79" name="Text 73"/>
          <p:cNvSpPr/>
          <p:nvPr/>
        </p:nvSpPr>
        <p:spPr>
          <a:xfrm>
            <a:off x="5394960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Ranked Shortlist</a:t>
            </a:r>
            <a:endParaRPr lang="en-US" sz="1400" dirty="0"/>
          </a:p>
        </p:txBody>
      </p:sp>
      <p:sp>
        <p:nvSpPr>
          <p:cNvPr id="80" name="Text 74"/>
          <p:cNvSpPr/>
          <p:nvPr/>
        </p:nvSpPr>
        <p:spPr>
          <a:xfrm>
            <a:off x="493776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Color-coded: Green 80+, Yellow 50–79, Red &lt;50</a:t>
            </a:r>
            <a:endParaRPr lang="en-US" sz="1050" dirty="0"/>
          </a:p>
        </p:txBody>
      </p:sp>
      <p:sp>
        <p:nvSpPr>
          <p:cNvPr id="81" name="Text 75"/>
          <p:cNvSpPr/>
          <p:nvPr/>
        </p:nvSpPr>
        <p:spPr>
          <a:xfrm>
            <a:off x="4937760" y="4224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live as each candidate is processed</a:t>
            </a:r>
            <a:endParaRPr lang="en-US" sz="1050" dirty="0"/>
          </a:p>
        </p:txBody>
      </p:sp>
      <p:sp>
        <p:nvSpPr>
          <p:cNvPr id="82" name="Text 76"/>
          <p:cNvSpPr/>
          <p:nvPr/>
        </p:nvSpPr>
        <p:spPr>
          <a:xfrm>
            <a:off x="4937760" y="45628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candidate for full detail view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2024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2024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92024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0896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0896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0896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0896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10896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9768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9768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9768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29768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8640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640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8640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7512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67512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67512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67512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86384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86384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86384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86384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86384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05256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05256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05256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05256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05256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8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Screen. See It Rank. See It Explain.</a:t>
            </a:r>
            <a:endParaRPr lang="en-US" sz="2600" dirty="0"/>
          </a:p>
        </p:txBody>
      </p:sp>
      <p:sp>
        <p:nvSpPr>
          <p:cNvPr id="47" name="Shape 45"/>
          <p:cNvSpPr/>
          <p:nvPr/>
        </p:nvSpPr>
        <p:spPr>
          <a:xfrm>
            <a:off x="320040" y="13258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20040" y="1325880"/>
            <a:ext cx="64008" cy="13258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2920" y="14356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0E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132588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LinkedIn Job URL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325880" y="1856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and description auto-fill in 1.5 seconds.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13258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54880" y="1325880"/>
            <a:ext cx="64008" cy="13258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937760" y="14356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0E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576072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3–4 Candidates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760720" y="1856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PDF uploads + LinkedIn Profile URLs.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0040" y="28346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320040" y="2834640"/>
            <a:ext cx="64008" cy="13258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02920" y="29443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0E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132588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AI Screen Live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325880" y="33649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appear in real-time as each candidate is processed.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754880" y="28346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754880" y="2834640"/>
            <a:ext cx="64008" cy="13258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0" y="29443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0E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65" name="Text 63"/>
          <p:cNvSpPr/>
          <p:nvPr/>
        </p:nvSpPr>
        <p:spPr>
          <a:xfrm>
            <a:off x="576072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Candidate Card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760720" y="33649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3 reasoning bullets, skills matched vs missing.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0040" y="4572000"/>
            <a:ext cx="8503920" cy="429768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DEMO IS LIVE — Follow along at: jobfitai.vercel.app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5544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544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544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5544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5544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5544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517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6517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6517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6517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6517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4904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4904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74904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4632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436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9436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9436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436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9436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0408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408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408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0408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381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381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1381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1381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381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1381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0" y="18288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00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Modern, Lean, Production-Ready</a:t>
            </a:r>
            <a:endParaRPr lang="en-US" sz="2600" dirty="0"/>
          </a:p>
        </p:txBody>
      </p:sp>
      <p:sp>
        <p:nvSpPr>
          <p:cNvPr id="55" name="Shape 53"/>
          <p:cNvSpPr/>
          <p:nvPr/>
        </p:nvSpPr>
        <p:spPr>
          <a:xfrm>
            <a:off x="320040" y="1325880"/>
            <a:ext cx="2743200" cy="1600200"/>
          </a:xfrm>
          <a:prstGeom prst="rect">
            <a:avLst/>
          </a:prstGeom>
          <a:solidFill>
            <a:srgbClr val="0D1628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0472"/>
            <a:ext cx="411480" cy="41148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100584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1005840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502920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design system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227832" y="1325880"/>
            <a:ext cx="2743200" cy="1600200"/>
          </a:xfrm>
          <a:prstGeom prst="rect">
            <a:avLst/>
          </a:prstGeom>
          <a:solidFill>
            <a:srgbClr val="0D1628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490472"/>
            <a:ext cx="411480" cy="411480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3913632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3913632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64" name="Text 60"/>
          <p:cNvSpPr/>
          <p:nvPr/>
        </p:nvSpPr>
        <p:spPr>
          <a:xfrm>
            <a:off x="3410712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 for PDF files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6135624" y="1325880"/>
            <a:ext cx="2743200" cy="1600200"/>
          </a:xfrm>
          <a:prstGeom prst="rect">
            <a:avLst/>
          </a:prstGeom>
          <a:solidFill>
            <a:srgbClr val="0D1628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6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490472"/>
            <a:ext cx="411480" cy="411480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6821424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6821424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9" name="Text 64"/>
          <p:cNvSpPr/>
          <p:nvPr/>
        </p:nvSpPr>
        <p:spPr>
          <a:xfrm>
            <a:off x="6318504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Bias-excluding system prompt</a:t>
            </a:r>
            <a:endParaRPr lang="en-US" sz="1000" dirty="0"/>
          </a:p>
        </p:txBody>
      </p:sp>
      <p:sp>
        <p:nvSpPr>
          <p:cNvPr id="70" name="Shape 65"/>
          <p:cNvSpPr/>
          <p:nvPr/>
        </p:nvSpPr>
        <p:spPr>
          <a:xfrm>
            <a:off x="320040" y="3108960"/>
            <a:ext cx="2743200" cy="1600200"/>
          </a:xfrm>
          <a:prstGeom prst="rect">
            <a:avLst/>
          </a:prstGeom>
          <a:solidFill>
            <a:srgbClr val="0D1628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73552"/>
            <a:ext cx="411480" cy="411480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100584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Import</a:t>
            </a:r>
            <a:endParaRPr lang="en-US" sz="1000" dirty="0"/>
          </a:p>
        </p:txBody>
      </p:sp>
      <p:sp>
        <p:nvSpPr>
          <p:cNvPr id="73" name="Text 67"/>
          <p:cNvSpPr/>
          <p:nvPr/>
        </p:nvSpPr>
        <p:spPr>
          <a:xfrm>
            <a:off x="1005840" y="3547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resolver</a:t>
            </a:r>
            <a:endParaRPr lang="en-US" sz="1200" dirty="0"/>
          </a:p>
        </p:txBody>
      </p:sp>
      <p:sp>
        <p:nvSpPr>
          <p:cNvPr id="74" name="Text 68"/>
          <p:cNvSpPr/>
          <p:nvPr/>
        </p:nvSpPr>
        <p:spPr>
          <a:xfrm>
            <a:off x="502920" y="4160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→ auto-fill (1.5s delay)</a:t>
            </a:r>
            <a:endParaRPr lang="en-US" sz="1000" dirty="0"/>
          </a:p>
        </p:txBody>
      </p:sp>
      <p:sp>
        <p:nvSpPr>
          <p:cNvPr id="75" name="Shape 69"/>
          <p:cNvSpPr/>
          <p:nvPr/>
        </p:nvSpPr>
        <p:spPr>
          <a:xfrm>
            <a:off x="3227832" y="3108960"/>
            <a:ext cx="2743200" cy="1600200"/>
          </a:xfrm>
          <a:prstGeom prst="rect">
            <a:avLst/>
          </a:prstGeom>
          <a:solidFill>
            <a:srgbClr val="0D1628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273552"/>
            <a:ext cx="411480" cy="411480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3913632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78" name="Text 71"/>
          <p:cNvSpPr/>
          <p:nvPr/>
        </p:nvSpPr>
        <p:spPr>
          <a:xfrm>
            <a:off x="3913632" y="3547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79" name="Text 72"/>
          <p:cNvSpPr/>
          <p:nvPr/>
        </p:nvSpPr>
        <p:spPr>
          <a:xfrm>
            <a:off x="3410712" y="4160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from GitHub</a:t>
            </a:r>
            <a:endParaRPr lang="en-US" sz="1000" dirty="0"/>
          </a:p>
        </p:txBody>
      </p:sp>
      <p:sp>
        <p:nvSpPr>
          <p:cNvPr id="80" name="Shape 73"/>
          <p:cNvSpPr/>
          <p:nvPr/>
        </p:nvSpPr>
        <p:spPr>
          <a:xfrm>
            <a:off x="6135624" y="3108960"/>
            <a:ext cx="2743200" cy="1600200"/>
          </a:xfrm>
          <a:prstGeom prst="rect">
            <a:avLst/>
          </a:prstGeom>
          <a:solidFill>
            <a:srgbClr val="0D1628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273552"/>
            <a:ext cx="411480" cy="411480"/>
          </a:xfrm>
          <a:prstGeom prst="rect">
            <a:avLst/>
          </a:prstGeom>
        </p:spPr>
      </p:pic>
      <p:sp>
        <p:nvSpPr>
          <p:cNvPr id="82" name="Text 74"/>
          <p:cNvSpPr/>
          <p:nvPr/>
        </p:nvSpPr>
        <p:spPr>
          <a:xfrm>
            <a:off x="6821424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000" dirty="0"/>
          </a:p>
        </p:txBody>
      </p:sp>
      <p:sp>
        <p:nvSpPr>
          <p:cNvPr id="83" name="Text 75"/>
          <p:cNvSpPr/>
          <p:nvPr/>
        </p:nvSpPr>
        <p:spPr>
          <a:xfrm>
            <a:off x="6821424" y="3547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pdfjs-dist</a:t>
            </a:r>
            <a:endParaRPr lang="en-US" sz="1200" dirty="0"/>
          </a:p>
        </p:txBody>
      </p:sp>
      <p:sp>
        <p:nvSpPr>
          <p:cNvPr id="84" name="Text 76"/>
          <p:cNvSpPr/>
          <p:nvPr/>
        </p:nvSpPr>
        <p:spPr>
          <a:xfrm>
            <a:off x="6318504" y="4160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parsing, no server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2024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2024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2024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92024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0896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0896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0896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0896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10896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9768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9768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9768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29768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8640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640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8640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7512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67512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67512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67512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86384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86384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86384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86384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86384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052560" y="45720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052560" y="146304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052560" y="246888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052560" y="347472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052560" y="4480560"/>
            <a:ext cx="32004" cy="32004"/>
          </a:xfrm>
          <a:prstGeom prst="ellipse">
            <a:avLst/>
          </a:prstGeom>
          <a:solidFill>
            <a:srgbClr val="D0DCF5"/>
          </a:solidFill>
          <a:ln w="12700">
            <a:solidFill>
              <a:srgbClr val="D0DC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8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Benefits — and How Big is the Opportunity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320040" y="1325880"/>
            <a:ext cx="2743200" cy="1371600"/>
          </a:xfrm>
          <a:prstGeom prst="rect">
            <a:avLst/>
          </a:prstGeom>
          <a:solidFill>
            <a:srgbClr val="0A1832"/>
          </a:solidFill>
          <a:ln w="1905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1417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66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4400" dirty="0"/>
          </a:p>
        </p:txBody>
      </p:sp>
      <p:sp>
        <p:nvSpPr>
          <p:cNvPr id="49" name="Text 47"/>
          <p:cNvSpPr/>
          <p:nvPr/>
        </p:nvSpPr>
        <p:spPr>
          <a:xfrm>
            <a:off x="32004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lost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parsing errors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27832" y="1325880"/>
            <a:ext cx="2743200" cy="1371600"/>
          </a:xfrm>
          <a:prstGeom prst="rect">
            <a:avLst/>
          </a:prstGeom>
          <a:solidFill>
            <a:srgbClr val="0A1832"/>
          </a:solidFill>
          <a:ln w="1905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227832" y="1417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66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6hrs</a:t>
            </a:r>
            <a:endParaRPr lang="en-US" sz="4400" dirty="0"/>
          </a:p>
        </p:txBody>
      </p:sp>
      <p:sp>
        <p:nvSpPr>
          <p:cNvPr id="52" name="Text 50"/>
          <p:cNvSpPr/>
          <p:nvPr/>
        </p:nvSpPr>
        <p:spPr>
          <a:xfrm>
            <a:off x="3227832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recruiter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200 resumes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35624" y="1325880"/>
            <a:ext cx="2743200" cy="1371600"/>
          </a:xfrm>
          <a:prstGeom prst="rect">
            <a:avLst/>
          </a:prstGeom>
          <a:solidFill>
            <a:srgbClr val="0A1832"/>
          </a:solidFill>
          <a:ln w="1905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135624" y="1417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66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30s</a:t>
            </a:r>
            <a:endParaRPr lang="en-US" sz="4400" dirty="0"/>
          </a:p>
        </p:txBody>
      </p:sp>
      <p:sp>
        <p:nvSpPr>
          <p:cNvPr id="55" name="Text 53"/>
          <p:cNvSpPr/>
          <p:nvPr/>
        </p:nvSpPr>
        <p:spPr>
          <a:xfrm>
            <a:off x="6135624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Fit AI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shortlist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20040" y="2926080"/>
            <a:ext cx="2743200" cy="5486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90672"/>
            <a:ext cx="347472" cy="347472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960120" y="3063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Recruiters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502920" y="356616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hours per job posting. Get a defensible ranked shortlist instantly.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227832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3227832" y="2926080"/>
            <a:ext cx="27432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3090672"/>
            <a:ext cx="347472" cy="347472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3867912" y="3063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Underrepresented Candidates</a:t>
            </a:r>
            <a:endParaRPr lang="en-US" sz="1300" dirty="0"/>
          </a:p>
        </p:txBody>
      </p:sp>
      <p:sp>
        <p:nvSpPr>
          <p:cNvPr id="65" name="Text 61"/>
          <p:cNvSpPr/>
          <p:nvPr/>
        </p:nvSpPr>
        <p:spPr>
          <a:xfrm>
            <a:off x="3410712" y="356616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skills alone. No demographic signals, no invisible bias.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6135624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6135624" y="292608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3090672"/>
            <a:ext cx="347472" cy="347472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6775704" y="3063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Companies</a:t>
            </a:r>
            <a:endParaRPr lang="en-US" sz="1300" dirty="0"/>
          </a:p>
        </p:txBody>
      </p:sp>
      <p:sp>
        <p:nvSpPr>
          <p:cNvPr id="70" name="Text 65"/>
          <p:cNvSpPr/>
          <p:nvPr/>
        </p:nvSpPr>
        <p:spPr>
          <a:xfrm>
            <a:off x="6318504" y="356616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hiring without scaling your HR team. Process hundreds of applicants per minute.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5544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544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544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5544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5544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5544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517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6517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6517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6517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6517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4904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4904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74904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4632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4360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94360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94360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4360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94360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04088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4088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4088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04088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38160" y="274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38160" y="11887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138160" y="21031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138160" y="30175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38160" y="39319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138160" y="4846320"/>
            <a:ext cx="36576" cy="36576"/>
          </a:xfrm>
          <a:prstGeom prst="ellipse">
            <a:avLst/>
          </a:prstGeom>
          <a:solidFill>
            <a:srgbClr val="1A2440"/>
          </a:solidFill>
          <a:ln w="12700">
            <a:solidFill>
              <a:srgbClr val="1A2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0" y="18288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A66C2">
              <a:alpha val="12000"/>
            </a:srgbClr>
          </a:solidFill>
          <a:ln w="12700">
            <a:solidFill>
              <a:srgbClr val="0A66C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0040" y="868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Fit</a:t>
            </a:r>
            <a:r>
              <a:rPr lang="en-US" sz="6000" b="1" dirty="0">
                <a:solidFill>
                  <a:srgbClr val="0A66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AI</a:t>
            </a:r>
            <a:endParaRPr lang="en-US" sz="6000" dirty="0"/>
          </a:p>
        </p:txBody>
      </p:sp>
      <p:sp>
        <p:nvSpPr>
          <p:cNvPr id="56" name="Text 54"/>
          <p:cNvSpPr/>
          <p:nvPr/>
        </p:nvSpPr>
        <p:spPr>
          <a:xfrm>
            <a:off x="320040" y="1920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9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Fair. Explainable. 30-Second Shortlists.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20040" y="2468880"/>
            <a:ext cx="8503920" cy="182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2004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9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App: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28600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jobfitai.vercel.app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2004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9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GitHub: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2860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https://github.com/yaswanthnaidu-yalla/JobFitAI</a:t>
            </a:r>
          </a:p>
        </p:txBody>
      </p:sp>
      <p:sp>
        <p:nvSpPr>
          <p:cNvPr id="62" name="Text 60"/>
          <p:cNvSpPr/>
          <p:nvPr/>
        </p:nvSpPr>
        <p:spPr>
          <a:xfrm>
            <a:off x="32004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9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Contact: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28600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team@jobfitai.dev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858000" y="2560320"/>
            <a:ext cx="19202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995160" y="2697480"/>
            <a:ext cx="502920" cy="502920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7040880" y="274320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086600" y="2788920"/>
            <a:ext cx="320040" cy="320040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7680960" y="2697480"/>
            <a:ext cx="502920" cy="502920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7726680" y="274320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772400" y="2788920"/>
            <a:ext cx="320040" cy="320040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995160" y="3337560"/>
            <a:ext cx="502920" cy="502920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7040880" y="338328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086600" y="3429000"/>
            <a:ext cx="320040" cy="320040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6995160" y="2953512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6995160" y="3118104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995160" y="3282696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995160" y="361188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159752" y="278892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7159752" y="2953512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7159752" y="3118104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7324344" y="278892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7324344" y="2953512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7324344" y="3282696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7324344" y="3447288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7324344" y="361188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7488936" y="278892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7488936" y="2953512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7488936" y="3282696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7488936" y="3447288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7488936" y="361188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7653528" y="3118104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7653528" y="3282696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7653528" y="3447288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7653528" y="361188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7818120" y="278892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7818120" y="3118104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7818120" y="3282696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7818120" y="3611880"/>
            <a:ext cx="109728" cy="109728"/>
          </a:xfrm>
          <a:prstGeom prst="rect">
            <a:avLst/>
          </a:prstGeom>
          <a:solidFill>
            <a:srgbClr val="0A1832"/>
          </a:solidFill>
          <a:ln w="12700">
            <a:solidFill>
              <a:srgbClr val="0A1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6812280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 live app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20040" y="4434840"/>
            <a:ext cx="6217920" cy="548640"/>
          </a:xfrm>
          <a:prstGeom prst="rect">
            <a:avLst/>
          </a:prstGeom>
          <a:solidFill>
            <a:srgbClr val="080D1A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57200" y="4462272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problem is hours of biased, opaque, manual screening.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7AA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solved it."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604</Words>
  <Application>Microsoft Office PowerPoint</Application>
  <PresentationFormat>On-screen Show (16:9)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Fit AI Pitch Deck</dc:title>
  <dc:subject>PptxGenJS Presentation</dc:subject>
  <dc:creator>PptxGenJS</dc:creator>
  <cp:lastModifiedBy>CHATHELLI SAMBARAJU</cp:lastModifiedBy>
  <cp:revision>1</cp:revision>
  <dcterms:created xsi:type="dcterms:W3CDTF">2026-03-13T07:35:32Z</dcterms:created>
  <dcterms:modified xsi:type="dcterms:W3CDTF">2026-03-13T07:58:35Z</dcterms:modified>
</cp:coreProperties>
</file>